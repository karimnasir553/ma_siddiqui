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Explainable Failure Analysis in Time-Series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14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9B4FA"/>
                </a:solidFill>
              </a:rPr>
              <a:t>Using SHAP — Master's Thesis Progress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38328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DD"/>
                </a:solidFill>
              </a:rPr>
              <a:t>Abdul Karim Nasir Siddiqui  ·  Friedrich-Alexander-Universität Erlangen-Nürnberg (FAU)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DD"/>
                </a:solidFill>
              </a:rPr>
              <a:t>Supervisor: Prof. Dr.-Ing. habil. Philipp Beckerle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Thesis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E2AF"/>
                </a:solidFill>
              </a:rPr>
              <a:t>Core 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Which sensor, at which exact timestep, caused the model to predict a robot failure?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E2AF"/>
                </a:solidFill>
              </a:rPr>
              <a:t>Three SHAP Methods Compared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KernelSHAP  —  classical SHAP baseline  (Lundberg &amp; Lee, NeurIPS 2017)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644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TimeSHAP    —  extends KernelSHAP to recurrent models  (Bento et al., KDD 2021)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4845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WinIT       —  window-based temporal attribution, state of the art  (Leung et al., ICLR 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E2AF"/>
                </a:solidFill>
              </a:rPr>
              <a:t>Two Stages of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Stage 1 — CMAPSS (benchmark):  1 failure mode, binary label → validate SHAP methods on known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560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Stage 2 — Real robot data:  3 failure modes, multi-class → validate supervisor's failure mode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Progress — Last 2 Weeks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6E3A1"/>
                </a:solidFill>
              </a:rPr>
              <a:t>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GitHub repository set up — full project structure, CI, issue templates, supervisor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4650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Milestone timeline defined: July → December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7568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NASA CMAPSS dataset acquired and loaded (FD001 — 100 engines, 15 active sensors)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048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CMAPSSLoader — RUL computation, failure labels (threshold 30), constant sensor removal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3405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TimeSeriesPreprocessor — MinMax normalisation, sliding window (30 cycles, step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3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Notebook 03 — 8-section EDA: lifetimes, RUL curves, failure zone, heatmap, sensor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9242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MLP classifier trained — 99% accuracy, 75%+ recall on failure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216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KernelSHAP run — sensor importance, temporal importance, heatmap, single prediction explained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Key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43200" cy="14630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9B4FA"/>
                </a:solidFill>
              </a:rPr>
              <a:t>17,731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DD"/>
                </a:solidFill>
              </a:rPr>
              <a:t>training windows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71600"/>
            <a:ext cx="2743200" cy="14630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508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9B4FA"/>
                </a:solidFill>
              </a:rPr>
              <a:t>10,196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DD"/>
                </a:solidFill>
              </a:rPr>
              <a:t>test windows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2743200" cy="14630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9B4FA"/>
                </a:solidFill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DD"/>
                </a:solidFill>
              </a:rPr>
              <a:t>active sensors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371600"/>
            <a:ext cx="2743200" cy="14630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508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9B4FA"/>
                </a:solidFill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DD"/>
                </a:solidFill>
              </a:rPr>
              <a:t>window size (cycles)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83280"/>
            <a:ext cx="2743200" cy="14630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5204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9B4FA"/>
                </a:solidFill>
              </a:rPr>
              <a:t>82 /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60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DD"/>
                </a:solidFill>
              </a:rPr>
              <a:t>normal / failure split (%)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383280"/>
            <a:ext cx="2743200" cy="14630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35204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9B4FA"/>
                </a:solidFill>
              </a:rPr>
              <a:t>99%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160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DD"/>
                </a:solidFill>
              </a:rPr>
              <a:t>overall model 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383280"/>
            <a:ext cx="2743200" cy="14630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5204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9B4FA"/>
                </a:solidFill>
              </a:rPr>
              <a:t>75%+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160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DD"/>
                </a:solidFill>
              </a:rPr>
              <a:t>failure class recall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3383280"/>
            <a:ext cx="2743200" cy="14630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35204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9B4FA"/>
                </a:solidFill>
              </a:rP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160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DD"/>
                </a:solidFill>
              </a:rPr>
              <a:t>predictions explained by SHAP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NASA CMAPSS — 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E2AF"/>
                </a:solidFill>
              </a:rPr>
              <a:t>What is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NASA simulation of jet turbofan engines degrading until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100 engines run cycle-by-cycle, sensors recorded at every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Failure mode: High Pressure Compressor (HPC) degradation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Ground truth RUL provided — used to create binary failure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Standard benchmark — used in every predictive maintenance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E2AF"/>
                </a:solidFill>
              </a:rPr>
              <a:t>Key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• Subset       :  FD001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• Engines      : 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• Total sensors:  21  →  15 after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06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• Window size  :  30 cycles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71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• Threshold    :  RUL ≤ 30  = 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37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• Final X shape:  (n, 30, 15)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AB387"/>
                </a:solidFill>
              </a:rPr>
              <a:t>Important limitation: CMAPSS has only ONE failure mode (HPC degradation) — binary label only (failure / normal).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DD"/>
                </a:solidFill>
              </a:rPr>
              <a:t>Role in thesis: methods validation benchmark only. Real multi-class failure analysis happens on robot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Implemented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194560" cy="47548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1E2E"/>
                </a:solidFill>
              </a:rPr>
              <a:t>1  Raw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197864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train_FD001.txt  /  robot SQL  /  ROS2 bags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01368"/>
            <a:ext cx="2194560" cy="47548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1E2E"/>
                </a:solidFill>
              </a:rPr>
              <a:t>2  Load &amp; 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856231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CMAPSSLoader — RUL → binary label (threshold 30)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59736"/>
            <a:ext cx="2194560" cy="47548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1E2E"/>
                </a:solidFill>
              </a:rPr>
              <a:t>3  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51460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Drop 6 constant sensors  →  15 active sensors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18104"/>
            <a:ext cx="2194560" cy="47548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1E2E"/>
                </a:solidFill>
              </a:rPr>
              <a:t>4  Normalise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172968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MinMaxScaler fitted on train, applied to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76472"/>
            <a:ext cx="2194560" cy="47548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1E2E"/>
                </a:solidFill>
              </a:rPr>
              <a:t>5 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831335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Sliding window 30 cycles, step 1  →  X (n, 30, 15)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34840"/>
            <a:ext cx="2194560" cy="47548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1E2E"/>
                </a:solidFill>
              </a:rPr>
              <a:t>6 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489703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MLP trained — 99% accuracy, 75%+ recall on failure class 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93208"/>
            <a:ext cx="2194560" cy="47548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1E2E"/>
                </a:solidFill>
              </a:rPr>
              <a:t>7  SHAP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14807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KernelSHAP done ✓   TimeSHAP + WinIT next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What is SHAP?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E2AF"/>
                </a:solidFill>
              </a:rPr>
              <a:t>The Core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SHAP assigns every input feature a score: how much did this feature push the prediction toward failure?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E2AF"/>
                </a:solidFill>
              </a:rPr>
              <a:t>Three Methods — Each Handles Time Differently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34640"/>
            <a:ext cx="3657600" cy="25603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</a:rPr>
              <a:t>KernelSHAP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Treats each (sensor, timestep) cell independently.
Ignores the fact that data is a sequence.
Baseline — Lundberg &amp; Lee, NeurIPS 2017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834640"/>
            <a:ext cx="3657600" cy="25603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880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</a:rPr>
              <a:t>TimeSHAP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3375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Extends KernelSHAP to recurrent models.
Uses pruning to focus on the most recent timesteps.
Bento et al., KDD 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834640"/>
            <a:ext cx="3657600" cy="25603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880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</a:rPr>
              <a:t>WinIT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3375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Masks whole windows of timesteps and measures prediction change.
State of the art for temporal attribution.
Leung et al., ICLR 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DD"/>
                </a:solidFill>
              </a:rPr>
              <a:t>We run all three on the same dataset and compare: faithfulness, stability, compute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KernelSHAP Results — CMAPSS FD001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9E2AF"/>
                </a:solidFill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MLP  (450 inputs → 128 → 64 → 2 outputs)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05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17,731 training windows  ·  10,196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3969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99% overall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75%+ recall on failure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9E2AF"/>
                </a:solidFill>
              </a:rPr>
              <a:t>What SHAP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4813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Top sensors: T30, Ps30, NRc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105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These are HPC degradation signatures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3969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Last 5–10 of 30 timesteps matter most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468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Physically consistent with fault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9E2AF"/>
                </a:solidFill>
              </a:rPr>
              <a:t>4 Plots Produced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4813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9B4FA"/>
                </a:solidFill>
              </a:rPr>
              <a:t>• Bar chart — sensor 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105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9B4FA"/>
                </a:solidFill>
              </a:rPr>
              <a:t>• Line chart — temporal importance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3969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9B4FA"/>
                </a:solidFill>
              </a:rPr>
              <a:t>• Heatmap — sensor × timestep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68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9B4FA"/>
                </a:solidFill>
              </a:rPr>
              <a:t>• Single prediction explained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9E2AF"/>
                </a:solidFill>
              </a:rPr>
              <a:t>What This 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11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The model is not a black box anymore — we can see exactly which sensor at which moment triggered the failure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959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T30 (HPC outlet temperature) rising in the last 8 cycles is the strongest signal — physically this makes sense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7997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This is the baseline. TimeSHAP and WinIT will give different timestep attributions — that difference is the thesis contribution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6402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Same pipeline will run on real robot data to validate the supervisor's designed failure modes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MLP vs LSTM — Why the Model Choice Matters for SHAP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394960" cy="43891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E2AF"/>
                </a:solidFill>
              </a:rPr>
              <a:t>MLP  (Notebook 04 — Baseline)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Input: (n, 450) — sequence flattened into one 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Each (sensor, timestep) cell treated independently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677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No memory — timestep 1 and timestep 30 equally weighted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151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SHAP: importance per flattened cell, no temporal ordering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6265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Accuracy: 99%  ·  Failure recall: 75%+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B387"/>
                </a:solidFill>
              </a:rPr>
              <a:t>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</a:rPr>
              <a:t>MLP does not know time exists. It sees 450 independent
features, not a 30-step sequence. SHAP values may
highlight artifacts of flattening, not real temporal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9B4F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051560"/>
            <a:ext cx="5394960" cy="43891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6E3A1"/>
                </a:solidFill>
              </a:rPr>
              <a:t>LSTM  (Notebook 05 — Current)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5727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Input: (n, 30, 15) — sequence preserved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920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Hidden state carries information across timesteps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677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Model learns which earlier cycles matter for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151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KernelSHAP explains both — but predictions differ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6265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LSTM predictions already encode temporal 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10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Better suited for: failure detection in sequences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337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6E3A1"/>
                </a:solidFill>
              </a:rPr>
              <a:t>Advantage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6576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</a:rPr>
              <a:t>Both use KernelSHAP on flat (450,) input.
LSTM's hidden state already learned temporal trends,
so its predictions — and SHAP attributions — reflect sequence.
MLP has no such memory.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AB387"/>
                </a:solidFill>
              </a:rPr>
              <a:t>Key Question: do MLP and LSTM SHAP values agree on the top sensors?  If yes → signal is robust.  If no → model architecture changes the explanation.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SHAP Results — MLP vs LSTM (KernelSHAP, CMAPSS FD001)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394960" cy="32918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E2AF"/>
                </a:solidFill>
              </a:rPr>
              <a:t>MLP — Top Sensors (Notebook 04)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#1  sensor_11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5727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Ps30  — Static pressure HPC outlet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#2  sensor_9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99339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Nc    — Physical core 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140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#3  sensor_12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41401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phi   — Fuel flow / Ps30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#4  sensor_4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T50   — Temperature at LPT outlet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552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#5  sensor_2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25526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T24   — Temperature at LPC outlet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051560"/>
            <a:ext cx="5394960" cy="32918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6E3A1"/>
                </a:solidFill>
              </a:rPr>
              <a:t>LSTM — Top Sensors (Notebook 05)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5727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</a:rPr>
              <a:t>#1  sensor_13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5727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E3A1"/>
                </a:solidFill>
              </a:rPr>
              <a:t>NRf   — Corrected fan speed     ← NEW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9933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#2  sensor_11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199339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Ps30  — Static pressure HPC outlet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4140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#3  sensor_12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41401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phi   — Fuel flow / Ps30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#4  sensor_2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T24   — Temperature at LPC outlet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2552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</a:rPr>
              <a:t>#5  sensor_7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325526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E3A1"/>
                </a:solidFill>
              </a:rPr>
              <a:t>P30   — Total pressure HPC outlet ← 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26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9E2AF"/>
                </a:solidFill>
              </a:rPr>
              <a:t>What This Tells 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937760"/>
            <a:ext cx="5394960" cy="155448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983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</a:rPr>
              <a:t>Both agree on: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218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Ps30 (sensor_11) + phi (sensor_12) — strong HPC degradation signal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Consistent across architectures → physically real signal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937760"/>
            <a:ext cx="5394960" cy="1554480"/>
          </a:xfrm>
          <a:prstGeom prst="rect">
            <a:avLst/>
          </a:prstGeom>
          <a:solidFill>
            <a:srgbClr val="3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983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AB387"/>
                </a:solidFill>
              </a:rPr>
              <a:t>LSTM sees differently: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3218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NRf (corrected fan speed) rises to #1 — only visible as a trend over 30 cycles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Nc (core speed) drops out — LSTM prefers corrected over raw speed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37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</a:rPr>
              <a:t>Finding: model architecture changes SHAP rankings — validating the need to compare MLP and LSTM attributions.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TimeSHAP — Sequence-Aware SHAP on LSTM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394960" cy="22860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AB387"/>
                </a:solidFill>
              </a:rPr>
              <a:t>Problem with KernelSHAP on LSTM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KernelSHAP flattens (30, 15) → 450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Loses all temporal structure before explaining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3113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SHAP sees 450 independent numbers, not a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786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Cannot detect trends that span multiple timesteps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011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9B4F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051560"/>
            <a:ext cx="5394960" cy="22860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097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6E3A1"/>
                </a:solidFill>
              </a:rPr>
              <a:t>How TimeSHAP Fixes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5361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Keeps input as (30, 15) — sequence never flattened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8366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Runs backwards from last timestep (most recent first)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3113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Pruning: stops when earlier timesteps stop contributing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786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Gives importance per timestep AND per sensor separately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20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9E2AF"/>
                </a:solidFill>
              </a:rPr>
              <a:t>How TimeSHAP Works — 3 Steps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77639"/>
            <a:ext cx="3657600" cy="21945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23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9B4FA"/>
                </a:solidFill>
              </a:rPr>
              <a:t>Step 1
Pruning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53712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Starts at timestep 30, works backwards.
Stops when removing older timesteps
no longer changes the prediction.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977639"/>
            <a:ext cx="3657600" cy="21945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023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6E3A1"/>
                </a:solidFill>
              </a:rPr>
              <a:t>Step 2
Event SHAP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553712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Assigns a SHAP score to each timestep.
Answers: which of the 30 cycles
mattered most for this prediction?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77639"/>
            <a:ext cx="3657600" cy="21945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023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9E2AF"/>
                </a:solidFill>
              </a:rPr>
              <a:t>Step 3
Feature SHAP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553712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Assigns a SHAP score to each sensor.
Answers: which of the 15 sensors
drove the prediction?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</a:rPr>
              <a:t>Paper: Bento et al. (KDD 2021) — arxiv.org/abs/2012.00073  |  Notebook: 06_timeshap.ipynb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KernelSHAP vs TimeSHAP — Sensor Rankings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394960" cy="31089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E2AF"/>
                </a:solidFill>
              </a:rPr>
              <a:t>KernelSHAP — Top 5 Sensors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#1  sensor_13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5727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NRf   — Corrected fan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75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#2  sensor_11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9751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Ps30  — Static pressure HPC outlet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#3  sensor_12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3774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phi   — Fuel flow / Ps30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797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#4  sensor_2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77977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T24   — Temperature LPC outlet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#5  sensor_7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1821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P30   — Total pressure HPC outlet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051560"/>
            <a:ext cx="5394960" cy="31089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6E3A1"/>
                </a:solidFill>
              </a:rPr>
              <a:t>TimeSHAP — Top 5 Sensors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5727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#1  sensor_13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5727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NRf   — Corrected fan speed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975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</a:rPr>
              <a:t>#2  sensor_20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19751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E3A1"/>
                </a:solidFill>
              </a:rPr>
              <a:t>W31   — HPT coolant bleed   ← NEW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377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</a:rPr>
              <a:t>#3  sensor_8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3774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E3A1"/>
                </a:solidFill>
              </a:rPr>
              <a:t>Nf    — Physical fan speed  ← NEW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7797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#4  sensor_12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77977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phi   — Fuel flow / Ps30 ratio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1821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#5  sensor_11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31821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Ps30  — Static pressure HPC outlet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343400"/>
            <a:ext cx="5394960" cy="169164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4074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6E3A1"/>
                </a:solidFill>
              </a:rPr>
              <a:t>Both agree on (3/5 sensors):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731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sensor_13 (NRf)  — top sensor in both methods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93207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sensor_11 (Ps30) — HPC pressure, consistent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4132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sensor_12 (phi)  — fuel-pressure ratio, consistent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343400"/>
            <a:ext cx="5394960" cy="1691640"/>
          </a:xfrm>
          <a:prstGeom prst="rect">
            <a:avLst/>
          </a:prstGeom>
          <a:solidFill>
            <a:srgbClr val="3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4074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B387"/>
                </a:solidFill>
              </a:rPr>
              <a:t>TimeSHAP sees differently: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7731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W31 (HPT coolant bleed) — temporal trend hidden from KernelSHAP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093207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Nf (fan speed) surfaces — sequence-aware attribution finds 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4132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T24 and P30 drop out — less important when time is respected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1996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AB387"/>
                </a:solidFill>
              </a:rPr>
              <a:t>Finding: 3/5 sensors agree → HPC pressure/speed signal is robust. 2 new sensors from TimeSHAP → temporal context reveals additional failure signatures.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Federated Learning — 3 Real Robots, Not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Setup: 3 physical lab robots, each with the same 3 failure modes physically implemented by the supervisor.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3200400" cy="10058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9B4FA"/>
                </a:solidFill>
              </a:rPr>
              <a:t>Robot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trains locally
runs SHAP locally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DD"/>
                </a:solidFill>
              </a:rPr>
              <a:t>↓ SHAP values only
(no raw data)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00200"/>
            <a:ext cx="3200400" cy="10058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9B4FA"/>
                </a:solidFill>
              </a:rPr>
              <a:t>Robot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20116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trains locally
runs SHAP locally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51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DD"/>
                </a:solidFill>
              </a:rPr>
              <a:t>↓ SHAP values only
(no raw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600200"/>
            <a:ext cx="3200400" cy="10058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9B4FA"/>
                </a:solidFill>
              </a:rPr>
              <a:t>Robot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0116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trains locally
runs SHAP locally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651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DD"/>
                </a:solidFill>
              </a:rPr>
              <a:t>↓ SHAP values only
(no raw data)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3337560"/>
            <a:ext cx="4114800" cy="6858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3401568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1E2E"/>
                </a:solidFill>
              </a:rPr>
              <a:t>Central Server — aggregates SHAP values from all 3 robots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9E2AF"/>
                </a:solidFill>
              </a:rPr>
              <a:t>What the Server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17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Do all 3 robots agree on which sensors cause failure mode 1? mode 2? mode 3?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651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Are the temporal patterns (which timesteps matter) consistent across robots?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1266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If YES → failure modes are physically consistent and correctly designed across all 3 robots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013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If NO → disagreement reveals hardware variation, sensor placement differences, or inconsistent failure implementation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AB387"/>
                </a:solidFill>
              </a:rPr>
              <a:t>Why this is novel: federating SHAP explanations (not just model weights) as a cross-robot design validation tool.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</a:rPr>
              <a:t>McMahan et al. (2017) — Communication-Efficient Learning of Deep Networks from Decentralized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Existing SHAP Benchmarks — Where We Stand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E2AF"/>
                </a:solidFill>
              </a:rPr>
              <a:t>What Already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657600" cy="23774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66420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WinIT  —  Leung et al. (ICLR 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17627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9E2AF"/>
                </a:solidFill>
              </a:rPr>
              <a:t>arxiv.org/abs/2210.01622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51460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WinIT vs TimeSHAP vs FIT vs LIME
on MIMIC-III (ICU) + synthetic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2186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B387"/>
                </a:solidFill>
              </a:rPr>
              <a:t>Gap: Medical / synthetic only — no industrial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00200"/>
            <a:ext cx="3657600" cy="23774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66420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Theissler et al. (Neural Networks 2022)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17627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9E2AF"/>
                </a:solidFill>
              </a:rPr>
              <a:t>doi.org/10.1016/j.neunet.2022.06.041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51460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Survey of 30+ XAI methods across
multiple time-series classification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32186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B387"/>
                </a:solidFill>
              </a:rPr>
              <a:t>Gap: No robot or industrial sensor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600200"/>
            <a:ext cx="3657600" cy="23774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166420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Ismail Fawaz et al. (DSS 2020)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17627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9E2AF"/>
                </a:solidFill>
              </a:rPr>
              <a:t>arxiv.org/abs/1905.04755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51460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Saliency / gradient methods on
UCR archive (128 datasets)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32186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B387"/>
                </a:solidFill>
              </a:rPr>
              <a:t>Gap: Not SHAP-specific — no temporal attribution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94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E2AF"/>
                </a:solidFill>
              </a:rPr>
              <a:t>The Gap — and Our Contribution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No existing benchmark uses real robot failure data with physically designed failure modes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537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All benchmarks use medical or synthetic data — not industrial sensor data from hardware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01183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We replicate the WinIT benchmark setup and extend it to ASM robot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24865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Key question: do TimeSHAP / WinIT rankings from medical data hold up on robot sensor data?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96127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If not → our contribution is showing SHAP method choice is domain-dependent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Real Robot Data — ASM Lab Update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E2AF"/>
                </a:solidFill>
              </a:rPr>
              <a:t>Key Difference vs CMAPSS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33856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AB387"/>
                </a:solidFill>
              </a:rPr>
              <a:t>CMAPSS:  1 failure mode  →  binary label (normal / failure)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57276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6E3A1"/>
                </a:solidFill>
              </a:rPr>
              <a:t>Robot data:  3 failure modes  →  multi-class (normal / mode 1 / mode 2 / mode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</a:rPr>
              <a:t>SHAP output shape changes: (n, features, 2)  →  (n, features, 4)  — one attribution set per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E2AF"/>
                </a:solidFill>
              </a:rPr>
              <a:t>Dataset Update from Supervisor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Supervisor collected robot failure dataset —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558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3 failure modes physically designed and implemented on lab robot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3989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Data already exists — Milestone 3 potentially achieved ahead of 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E2AF"/>
                </a:solidFill>
              </a:rPr>
              <a:t>How Multi-Class SHAP Validates the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17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Train LSTM/GRU: 4-class output (normal + 3 failure modes)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651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SHAP per class: which sensor at which timestep distinguishes mode 2 from mode 1?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1266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If SHAP highlights physically correct sensors for each mode → design is 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013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If SHAP highlights wrong sensors → failure modes are not separable in the sensor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</a:rPr>
              <a:t>Next action: obtain database credentials / ROS2 bag files to start real data pipeline.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Project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274320" cy="4572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6E3A1"/>
                </a:solidFill>
              </a:rPr>
              <a:t>M1 —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819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Literature review, repo setup, CMAPSS pipeline + KernelSHAP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40280"/>
            <a:ext cx="274320" cy="4572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CCDD"/>
                </a:solidFill>
              </a:rPr>
              <a:t>M2 —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963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SQL data processed, LSTM/GRU trained, TimeSHAP + WinIT implemented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54680"/>
            <a:ext cx="274320" cy="4572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CCDD"/>
                </a:solidFill>
              </a:rPr>
              <a:t>M3 — September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107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ROS2 / real robot data pipeline, all failure modes analysed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69079"/>
            <a:ext cx="274320" cy="4572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776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CCDD"/>
                </a:solidFill>
              </a:rPr>
              <a:t>M4 — 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251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Full SHAP comparison complete, all figures generated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83479"/>
            <a:ext cx="274320" cy="4572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CCDD"/>
                </a:solidFill>
              </a:rPr>
              <a:t>M5 — December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39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Thesis written and submitted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89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E3A1"/>
                </a:solidFill>
              </a:rPr>
              <a:t>Green = completed / in progress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• Obtain access to ASM SQL database / ROS2 bag files from supervisor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• Implement LSTM and GRU classifiers — replace MLP baseline  (src/models/)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14015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• Implement TimeSHAP wrapper and run on CMAPSS  (src/explainability/timeshap_explainer.py)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809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• Implement WinIT wrapper and run on CMAPSS  (src/explainability/winit_explainer.py)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478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• Compare all three SHAP methods: faithfulness, stability, compute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• Apply full pipeline to real robot data — validate supervisor's failure mode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81727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• Discuss federated learning extension with supervisor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